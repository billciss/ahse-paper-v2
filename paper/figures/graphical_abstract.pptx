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4876495"/>
  <p:notesSz cx="48764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data"/>
          <p:cNvSpPr/>
          <p:nvPr/>
        </p:nvSpPr>
        <p:spPr>
          <a:xfrm>
            <a:off x="73152" y="73152"/>
            <a:ext cx="3703320" cy="4730191"/>
          </a:xfrm>
          <a:prstGeom prst="roundRect">
            <a:avLst>
              <a:gd name="adj" fmla="val 2963"/>
            </a:avLst>
          </a:prstGeom>
          <a:solidFill>
            <a:srgbClr val="EAF2FB"/>
          </a:solidFill>
          <a:ln w="22225">
            <a:solidFill>
              <a:srgbClr val="1F4E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" y="2011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PV data</a:t>
            </a:r>
            <a:endParaRPr lang="en-US" sz="2000" dirty="0"/>
          </a:p>
        </p:txBody>
      </p:sp>
      <p:sp>
        <p:nvSpPr>
          <p:cNvPr id="4" name="Sun"/>
          <p:cNvSpPr/>
          <p:nvPr/>
        </p:nvSpPr>
        <p:spPr>
          <a:xfrm>
            <a:off x="329184" y="749808"/>
            <a:ext cx="475488" cy="475488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5" name="Sun ray 1"/>
          <p:cNvSpPr/>
          <p:nvPr/>
        </p:nvSpPr>
        <p:spPr>
          <a:xfrm>
            <a:off x="877824" y="987552"/>
            <a:ext cx="128016" cy="914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6" name="Sun ray 2"/>
          <p:cNvSpPr/>
          <p:nvPr/>
        </p:nvSpPr>
        <p:spPr>
          <a:xfrm>
            <a:off x="786765" y="1207389"/>
            <a:ext cx="90521" cy="90521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7" name="Sun ray 3"/>
          <p:cNvSpPr/>
          <p:nvPr/>
        </p:nvSpPr>
        <p:spPr>
          <a:xfrm>
            <a:off x="566928" y="1298448"/>
            <a:ext cx="914" cy="128016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8" name="Sun ray 4"/>
          <p:cNvSpPr/>
          <p:nvPr/>
        </p:nvSpPr>
        <p:spPr>
          <a:xfrm flipH="1">
            <a:off x="256570" y="1207389"/>
            <a:ext cx="90521" cy="90521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9" name="Sun ray 5"/>
          <p:cNvSpPr/>
          <p:nvPr/>
        </p:nvSpPr>
        <p:spPr>
          <a:xfrm>
            <a:off x="128016" y="987552"/>
            <a:ext cx="128016" cy="914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10" name="Sun ray 6"/>
          <p:cNvSpPr/>
          <p:nvPr/>
        </p:nvSpPr>
        <p:spPr>
          <a:xfrm>
            <a:off x="256570" y="677194"/>
            <a:ext cx="90521" cy="90521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11" name="Sun ray 7"/>
          <p:cNvSpPr/>
          <p:nvPr/>
        </p:nvSpPr>
        <p:spPr>
          <a:xfrm>
            <a:off x="566928" y="548640"/>
            <a:ext cx="914" cy="128016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12" name="Sun ray 8"/>
          <p:cNvSpPr/>
          <p:nvPr/>
        </p:nvSpPr>
        <p:spPr>
          <a:xfrm flipH="1">
            <a:off x="786765" y="677194"/>
            <a:ext cx="90521" cy="90521"/>
          </a:xfrm>
          <a:prstGeom prst="line">
            <a:avLst/>
          </a:prstGeom>
          <a:noFill/>
          <a:ln w="31750">
            <a:solidFill>
              <a:srgbClr val="E08A1E"/>
            </a:solidFill>
            <a:prstDash val="solid"/>
          </a:ln>
        </p:spPr>
      </p:sp>
      <p:sp>
        <p:nvSpPr>
          <p:cNvPr id="13" name="PV array"/>
          <p:cNvSpPr/>
          <p:nvPr/>
        </p:nvSpPr>
        <p:spPr>
          <a:xfrm>
            <a:off x="502920" y="1481328"/>
            <a:ext cx="1143000" cy="502920"/>
          </a:xfrm>
          <a:prstGeom prst="parallelogram">
            <a:avLst/>
          </a:prstGeom>
          <a:solidFill>
            <a:srgbClr val="9CC3EA"/>
          </a:solidFill>
          <a:ln w="22225">
            <a:solidFill>
              <a:srgbClr val="1F4E8C"/>
            </a:solidFill>
            <a:prstDash val="solid"/>
          </a:ln>
        </p:spPr>
      </p:sp>
      <p:sp>
        <p:nvSpPr>
          <p:cNvPr id="14" name="PV stand"/>
          <p:cNvSpPr/>
          <p:nvPr/>
        </p:nvSpPr>
        <p:spPr>
          <a:xfrm>
            <a:off x="1069848" y="1984248"/>
            <a:ext cx="914" cy="320040"/>
          </a:xfrm>
          <a:prstGeom prst="line">
            <a:avLst/>
          </a:prstGeom>
          <a:noFill/>
          <a:ln w="38100">
            <a:solidFill>
              <a:srgbClr val="1D24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960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Yulara  768 kW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off-grid, desert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 271 kW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grid-connected, humid</a:t>
            </a:r>
            <a:endParaRPr lang="en-US" sz="1300" dirty="0"/>
          </a:p>
        </p:txBody>
      </p:sp>
      <p:sp>
        <p:nvSpPr>
          <p:cNvPr id="19" name="Curtailment box"/>
          <p:cNvSpPr/>
          <p:nvPr/>
        </p:nvSpPr>
        <p:spPr>
          <a:xfrm>
            <a:off x="320040" y="251460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Curtailed series removed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2898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23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≈50% of its energy curtailed</a:t>
            </a:r>
            <a:endParaRPr lang="en-US" sz="1300" dirty="0"/>
          </a:p>
        </p:txBody>
      </p:sp>
      <p:sp>
        <p:nvSpPr>
          <p:cNvPr id="22" name="Cloud"/>
          <p:cNvSpPr/>
          <p:nvPr/>
        </p:nvSpPr>
        <p:spPr>
          <a:xfrm>
            <a:off x="320040" y="3703320"/>
            <a:ext cx="868680" cy="566928"/>
          </a:xfrm>
          <a:prstGeom prst="cloud">
            <a:avLst/>
          </a:prstGeom>
          <a:solidFill>
            <a:srgbClr val="FFFFFF"/>
          </a:solidFill>
          <a:ln w="22225">
            <a:solidFill>
              <a:srgbClr val="1F4E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0160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 GFS forecasts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runs published in time</a:t>
            </a:r>
            <a:endParaRPr lang="en-US" sz="1250" dirty="0"/>
          </a:p>
        </p:txBody>
      </p:sp>
      <p:sp>
        <p:nvSpPr>
          <p:cNvPr id="25" name="Arrow 1"/>
          <p:cNvSpPr/>
          <p:nvPr/>
        </p:nvSpPr>
        <p:spPr>
          <a:xfrm>
            <a:off x="3840480" y="2237080"/>
            <a:ext cx="384048" cy="402336"/>
          </a:xfrm>
          <a:prstGeom prst="rightArrow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6" name="Panel method"/>
          <p:cNvSpPr/>
          <p:nvPr/>
        </p:nvSpPr>
        <p:spPr>
          <a:xfrm>
            <a:off x="4297680" y="73152"/>
            <a:ext cx="3657600" cy="4730191"/>
          </a:xfrm>
          <a:prstGeom prst="roundRect">
            <a:avLst>
              <a:gd name="adj" fmla="val 3000"/>
            </a:avLst>
          </a:prstGeom>
          <a:solidFill>
            <a:srgbClr val="FDF6E3"/>
          </a:solidFill>
          <a:ln w="22225">
            <a:solidFill>
              <a:srgbClr val="E08A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201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5B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selection (AHSE)</a:t>
            </a:r>
            <a:endParaRPr lang="en-US" sz="2000" dirty="0"/>
          </a:p>
        </p:txBody>
      </p:sp>
      <p:sp>
        <p:nvSpPr>
          <p:cNvPr id="28" name="Model LightGBM"/>
          <p:cNvSpPr/>
          <p:nvPr/>
        </p:nvSpPr>
        <p:spPr>
          <a:xfrm>
            <a:off x="4480560" y="822960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0560" y="8229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300" dirty="0"/>
          </a:p>
        </p:txBody>
      </p:sp>
      <p:sp>
        <p:nvSpPr>
          <p:cNvPr id="30" name="Model XGBoost"/>
          <p:cNvSpPr/>
          <p:nvPr/>
        </p:nvSpPr>
        <p:spPr>
          <a:xfrm>
            <a:off x="5596128" y="822960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96128" y="8229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32" name="Model PatchTST"/>
          <p:cNvSpPr/>
          <p:nvPr/>
        </p:nvSpPr>
        <p:spPr>
          <a:xfrm>
            <a:off x="6711696" y="822960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11696" y="8229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PatchTST</a:t>
            </a:r>
            <a:endParaRPr lang="en-US" sz="1300" dirty="0"/>
          </a:p>
        </p:txBody>
      </p:sp>
      <p:sp>
        <p:nvSpPr>
          <p:cNvPr id="34" name="Model N-HiTS"/>
          <p:cNvSpPr/>
          <p:nvPr/>
        </p:nvSpPr>
        <p:spPr>
          <a:xfrm>
            <a:off x="4480560" y="1261872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126187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N-HiTS</a:t>
            </a:r>
            <a:endParaRPr lang="en-US" sz="1300" dirty="0"/>
          </a:p>
        </p:txBody>
      </p:sp>
      <p:sp>
        <p:nvSpPr>
          <p:cNvPr id="36" name="Model LSTM"/>
          <p:cNvSpPr/>
          <p:nvPr/>
        </p:nvSpPr>
        <p:spPr>
          <a:xfrm>
            <a:off x="5596128" y="1261872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96128" y="126187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300" dirty="0"/>
          </a:p>
        </p:txBody>
      </p:sp>
      <p:sp>
        <p:nvSpPr>
          <p:cNvPr id="38" name="Model GRU"/>
          <p:cNvSpPr/>
          <p:nvPr/>
        </p:nvSpPr>
        <p:spPr>
          <a:xfrm>
            <a:off x="6711696" y="1261872"/>
            <a:ext cx="1024128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9050">
            <a:solidFill>
              <a:srgbClr val="E08A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11696" y="126187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GFS inputs for tree models</a:t>
            </a:r>
            <a:endParaRPr lang="en-US" sz="1300" dirty="0"/>
          </a:p>
        </p:txBody>
      </p:sp>
      <p:sp>
        <p:nvSpPr>
          <p:cNvPr id="41" name="Selection rule"/>
          <p:cNvSpPr/>
          <p:nvPr/>
        </p:nvSpPr>
        <p:spPr>
          <a:xfrm>
            <a:off x="4498848" y="2148840"/>
            <a:ext cx="3255264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28575">
            <a:solidFill>
              <a:srgbClr val="2E7D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98848" y="222199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lead-time block: 1 h, 1–6 h, 6–24 h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498848" y="2542032"/>
            <a:ext cx="3255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models only if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gain is &gt; 0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498848" y="320040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otherwise: best single model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297680" y="36850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 on validation data only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4297680" y="4023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out-of-fold conformal 90% intervals</a:t>
            </a:r>
            <a:endParaRPr lang="en-US" sz="1250" dirty="0"/>
          </a:p>
        </p:txBody>
      </p:sp>
      <p:sp>
        <p:nvSpPr>
          <p:cNvPr id="47" name="Arrow 2"/>
          <p:cNvSpPr/>
          <p:nvPr/>
        </p:nvSpPr>
        <p:spPr>
          <a:xfrm>
            <a:off x="8019288" y="2237080"/>
            <a:ext cx="384048" cy="402336"/>
          </a:xfrm>
          <a:prstGeom prst="rightArrow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8" name="Panel results"/>
          <p:cNvSpPr/>
          <p:nvPr/>
        </p:nvSpPr>
        <p:spPr>
          <a:xfrm>
            <a:off x="8476488" y="73152"/>
            <a:ext cx="3639312" cy="4730191"/>
          </a:xfrm>
          <a:prstGeom prst="roundRect">
            <a:avLst>
              <a:gd name="adj" fmla="val 3015"/>
            </a:avLst>
          </a:prstGeom>
          <a:solidFill>
            <a:srgbClr val="EEF6F0"/>
          </a:solidFill>
          <a:ln w="22225">
            <a:solidFill>
              <a:srgbClr val="2E7D4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476488" y="201168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results, 1–24 h ahead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8476488" y="68580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GFS lowers MAE: −13% (Yulara), −26% (NIST)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476488" y="9875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AHSE test MAE (kW)</a:t>
            </a:r>
            <a:endParaRPr lang="en-US" sz="1200" dirty="0"/>
          </a:p>
        </p:txBody>
      </p:sp>
      <p:sp>
        <p:nvSpPr>
          <p:cNvPr id="52" name="Bar Yulara without GFS (36.2 kW)"/>
          <p:cNvSpPr/>
          <p:nvPr/>
        </p:nvSpPr>
        <p:spPr>
          <a:xfrm>
            <a:off x="8979408" y="1436522"/>
            <a:ext cx="566928" cy="148955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87968" y="116220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</a:t>
            </a:r>
            <a:endParaRPr lang="en-US" sz="1300" dirty="0"/>
          </a:p>
        </p:txBody>
      </p:sp>
      <p:sp>
        <p:nvSpPr>
          <p:cNvPr id="54" name="Bar Yulara with GFS (31.3 kW)"/>
          <p:cNvSpPr/>
          <p:nvPr/>
        </p:nvSpPr>
        <p:spPr>
          <a:xfrm>
            <a:off x="9601200" y="1638148"/>
            <a:ext cx="566928" cy="128793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509760" y="13638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979408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Yulara</a:t>
            </a:r>
            <a:endParaRPr lang="en-US" sz="1500" dirty="0"/>
          </a:p>
        </p:txBody>
      </p:sp>
      <p:sp>
        <p:nvSpPr>
          <p:cNvPr id="57" name="Bar NIST without GFS (27.6 kW)"/>
          <p:cNvSpPr/>
          <p:nvPr/>
        </p:nvSpPr>
        <p:spPr>
          <a:xfrm>
            <a:off x="10579608" y="1790395"/>
            <a:ext cx="566928" cy="1135685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488168" y="1516075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</a:t>
            </a:r>
            <a:endParaRPr lang="en-US" sz="1300" dirty="0"/>
          </a:p>
        </p:txBody>
      </p:sp>
      <p:sp>
        <p:nvSpPr>
          <p:cNvPr id="59" name="Bar NIST with GFS (20.4 kW)"/>
          <p:cNvSpPr/>
          <p:nvPr/>
        </p:nvSpPr>
        <p:spPr>
          <a:xfrm>
            <a:off x="11201400" y="2086661"/>
            <a:ext cx="566928" cy="839419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109960" y="1812341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0579608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</a:t>
            </a:r>
            <a:endParaRPr lang="en-US" sz="1500" dirty="0"/>
          </a:p>
        </p:txBody>
      </p:sp>
      <p:sp>
        <p:nvSpPr>
          <p:cNvPr id="62" name="Baseline"/>
          <p:cNvSpPr/>
          <p:nvPr/>
        </p:nvSpPr>
        <p:spPr>
          <a:xfrm>
            <a:off x="8796528" y="2926080"/>
            <a:ext cx="29992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3" name="Legend without GFS"/>
          <p:cNvSpPr/>
          <p:nvPr/>
        </p:nvSpPr>
        <p:spPr>
          <a:xfrm>
            <a:off x="8979408" y="3355848"/>
            <a:ext cx="182880" cy="1828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226296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GFS</a:t>
            </a:r>
            <a:endParaRPr lang="en-US" sz="1250" dirty="0"/>
          </a:p>
        </p:txBody>
      </p:sp>
      <p:sp>
        <p:nvSpPr>
          <p:cNvPr id="65" name="Legend with GFS"/>
          <p:cNvSpPr/>
          <p:nvPr/>
        </p:nvSpPr>
        <p:spPr>
          <a:xfrm>
            <a:off x="10579608" y="3355848"/>
            <a:ext cx="182880" cy="1828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826496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GFS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8476488" y="3685032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intervals: coverage 0.90–0.92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8476488" y="4023360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AHSE never significantly worse than best model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abstract</dc:title>
  <dc:subject>PptxGenJS Presentation</dc:subject>
  <dc:creator>Bilali Boureima Cissé</dc:creator>
  <cp:lastModifiedBy>Bilali Boureima Cissé</cp:lastModifiedBy>
  <cp:revision>1</cp:revision>
  <dcterms:created xsi:type="dcterms:W3CDTF">2026-10-03T16:37:42Z</dcterms:created>
  <dcterms:modified xsi:type="dcterms:W3CDTF">2026-10-03T16:37:42Z</dcterms:modified>
</cp:coreProperties>
</file>